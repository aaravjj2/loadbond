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28c5060dc348dd" /><Relationship Type="http://schemas.openxmlformats.org/officeDocument/2006/relationships/extended-properties" Target="/docProps/app.xml" Id="R5cf1e2e15aad4cf1" /><Relationship Type="http://schemas.openxmlformats.org/officeDocument/2006/relationships/officeDocument" Target="/ppt/presentation.xml" Id="Rc2bbefbe5931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9d628e687486e"/>
  </p:sldMasterIdLst>
  <p:notesMasterIdLst>
    <p:notesMasterId xmlns:r="http://schemas.openxmlformats.org/officeDocument/2006/relationships" r:id="R63d4026e66e041e9"/>
  </p:notesMasterIdLst>
  <p:sldIdLst>
    <p:sldId xmlns:r="http://schemas.openxmlformats.org/officeDocument/2006/relationships" id="256" r:id="Ra062073d039a4836"/>
    <p:sldId xmlns:r="http://schemas.openxmlformats.org/officeDocument/2006/relationships" id="257" r:id="R99aa86733284418b"/>
    <p:sldId xmlns:r="http://schemas.openxmlformats.org/officeDocument/2006/relationships" id="258" r:id="R6e891401b6304932"/>
    <p:sldId xmlns:r="http://schemas.openxmlformats.org/officeDocument/2006/relationships" id="259" r:id="R0373171b3efa403a"/>
    <p:sldId xmlns:r="http://schemas.openxmlformats.org/officeDocument/2006/relationships" id="260" r:id="R77a3dd3e0ace4aab"/>
    <p:sldId xmlns:r="http://schemas.openxmlformats.org/officeDocument/2006/relationships" id="261" r:id="R652a058a33c540a1"/>
    <p:sldId xmlns:r="http://schemas.openxmlformats.org/officeDocument/2006/relationships" id="262" r:id="R64218aff1e944a10"/>
    <p:sldId xmlns:r="http://schemas.openxmlformats.org/officeDocument/2006/relationships" id="263" r:id="Rd74da18b2efe46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0931e311654542" /><Relationship Type="http://schemas.openxmlformats.org/officeDocument/2006/relationships/slideMaster" Target="/ppt/slideMasters/slideMaster1.xml" Id="R29d9d628e687486e" /><Relationship Type="http://schemas.openxmlformats.org/officeDocument/2006/relationships/notesMaster" Target="/ppt/notesMasters/notesMaster1.xml" Id="R63d4026e66e041e9" /><Relationship Type="http://schemas.openxmlformats.org/officeDocument/2006/relationships/presProps" Target="/ppt/presProps.xml" Id="R9d879e02253d4c0d" /><Relationship Type="http://schemas.openxmlformats.org/officeDocument/2006/relationships/tableStyles" Target="/ppt/tableStyles.xml" Id="R4e55662899fc4914" /><Relationship Type="http://schemas.openxmlformats.org/officeDocument/2006/relationships/slide" Target="/ppt/slides/slide1.xml" Id="Ra062073d039a4836" /><Relationship Type="http://schemas.openxmlformats.org/officeDocument/2006/relationships/slide" Target="/ppt/slides/slide2.xml" Id="R99aa86733284418b" /><Relationship Type="http://schemas.openxmlformats.org/officeDocument/2006/relationships/slide" Target="/ppt/slides/slide3.xml" Id="R6e891401b6304932" /><Relationship Type="http://schemas.openxmlformats.org/officeDocument/2006/relationships/slide" Target="/ppt/slides/slide4.xml" Id="R0373171b3efa403a" /><Relationship Type="http://schemas.openxmlformats.org/officeDocument/2006/relationships/slide" Target="/ppt/slides/slide5.xml" Id="R77a3dd3e0ace4aab" /><Relationship Type="http://schemas.openxmlformats.org/officeDocument/2006/relationships/slide" Target="/ppt/slides/slide6.xml" Id="R652a058a33c540a1" /><Relationship Type="http://schemas.openxmlformats.org/officeDocument/2006/relationships/slide" Target="/ppt/slides/slide7.xml" Id="R64218aff1e944a10" /><Relationship Type="http://schemas.openxmlformats.org/officeDocument/2006/relationships/slide" Target="/ppt/slides/slide8.xml" Id="Rd74da18b2efe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4dc22f1ff144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8f3577a9c84bda" /><Relationship Type="http://schemas.openxmlformats.org/officeDocument/2006/relationships/notesMaster" Target="/ppt/notesMasters/notesMaster1.xml" Id="R51b8aacc619c40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221f0400b64873" /><Relationship Type="http://schemas.openxmlformats.org/officeDocument/2006/relationships/notesMaster" Target="/ppt/notesMasters/notesMaster1.xml" Id="Rc437ad28a6ee42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0dc4c65d7f4787" /><Relationship Type="http://schemas.openxmlformats.org/officeDocument/2006/relationships/notesMaster" Target="/ppt/notesMasters/notesMaster1.xml" Id="R577e2164e7c643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e8663bdf04fb8" /><Relationship Type="http://schemas.openxmlformats.org/officeDocument/2006/relationships/notesMaster" Target="/ppt/notesMasters/notesMaster1.xml" Id="R4af9d502fad04c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cd68e48dcf406e" /><Relationship Type="http://schemas.openxmlformats.org/officeDocument/2006/relationships/notesMaster" Target="/ppt/notesMasters/notesMaster1.xml" Id="Rfc34afe7c0eb45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f4cb1606ea4f26" /><Relationship Type="http://schemas.openxmlformats.org/officeDocument/2006/relationships/notesMaster" Target="/ppt/notesMasters/notesMaster1.xml" Id="Rdde16af815c7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c050fdeee847a2" /><Relationship Type="http://schemas.openxmlformats.org/officeDocument/2006/relationships/notesMaster" Target="/ppt/notesMasters/notesMaster1.xml" Id="R2c711d363ac24a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f07ea607604045" /><Relationship Type="http://schemas.openxmlformats.org/officeDocument/2006/relationships/notesMaster" Target="/ppt/notesMasters/notesMaster1.xml" Id="R79aff96113f247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from the supplied LoadBond report. Instrument treatment requires governing-law and document review. Ohio UCC 5-108: https://codes.ohio.gov/ohio-revised-code/section-1305.07. Do not claim verified market prevalence.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and offer hypotheses from the supplied research. No customer, bank or utility endorsement is claimed. Diagnostic pricing has not been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review workflow, not an empirical claim about every treasury team. Commercial status, legal status, instrument lifecycle and verification remain distinct.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Next.js/TypeScript frontend, FastAPI backend, local SQLite and content-addressed files. V2 uses manual source selection and exact quotation entry. The historical v1 adapter is separate and is not part of the demonstrated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Harbor renewal is created from scratch in the browser walkthrough. Its synthetic face is $500K, with $100K fixed and two $200K conditional claims. A one-branch cap lowers obligations but does not change face exposure. A separately reviewed hypothetical draw basis produces $300K modeled exposure. An amendment and re-review produce a $600K baseline. No actual LC treatment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architecture is implemented locally. Managed PostgreSQL, object storage, OIDC/MFA and production role separation are future pilot-gated work. V2 input schemas and OpenAPI are included in the local source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Thresholds are explicit internal planning choices approved in the action plan. They are not industry standards. Inadequate records produce an inconclusive outcome. After 10 adequately documented projects from 3 unrelated developers, fewer than 2 qualifying projects fails the cross-site investment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 begins October 9, 2026 and ends April 9, 2027. Current state: local manual workbench implemented and captured walkthrough video produced. Public hosting, event submissions and all customer outcomes remain pending. Graphiques permits concepts and research: https://graphiques-challenge.devpost.com/rules. Disclose prior HTML/report and AI coding assistance.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ccb8a9c1943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088fcb32b4c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d0537a97b42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a05819bc74d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4e74b92904c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300a66bcc4e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F915ED-1474-499B-9E7E-578364E73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C856CC-5AB8-45F0-9D70-B517618908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08BC10-FCA2-47BC-9A8D-C7151F2EF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0D7C01-A2A4-4C17-B292-C650DFEA64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8FFDC5-7E8E-426E-9EA9-AC67B7AD17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E3CE48-4324-4F53-8BC3-350AF6537A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5540FE-762C-4A5E-BC31-D98A9695FE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5BB3F4-582F-4D35-AA79-BD7FAC88DA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EAF0C0-AC6D-4CEE-A42C-648F1B3B1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9E8108-B6DB-45D7-A6E6-E4ADFCFD11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5113faa014916" /><Relationship Type="http://schemas.openxmlformats.org/officeDocument/2006/relationships/slideLayout" Target="/ppt/slideLayouts/slideLayout1.xml" Id="Rcb285f03c6664361" /><Relationship Type="http://schemas.openxmlformats.org/officeDocument/2006/relationships/slideLayout" Target="/ppt/slideLayouts/slideLayout2.xml" Id="R423dc69b5f2c4305" /><Relationship Type="http://schemas.openxmlformats.org/officeDocument/2006/relationships/slideLayout" Target="/ppt/slideLayouts/slideLayout3.xml" Id="Ra448cc8e803b4d1f" /><Relationship Type="http://schemas.openxmlformats.org/officeDocument/2006/relationships/slideLayout" Target="/ppt/slideLayouts/slideLayout4.xml" Id="Rbdcbfada660c4976" /><Relationship Type="http://schemas.openxmlformats.org/officeDocument/2006/relationships/slideLayout" Target="/ppt/slideLayouts/slideLayout5.xml" Id="R5fb2ca2db5c9420f" /><Relationship Type="http://schemas.openxmlformats.org/officeDocument/2006/relationships/slideLayout" Target="/ppt/slideLayouts/slideLayout6.xml" Id="Ref37de7ea1844d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285f03c6664361"/>
    <p:sldLayoutId xmlns:r="http://schemas.openxmlformats.org/officeDocument/2006/relationships" id="2147483650" r:id="R423dc69b5f2c4305"/>
    <p:sldLayoutId xmlns:r="http://schemas.openxmlformats.org/officeDocument/2006/relationships" id="2147483651" r:id="Ra448cc8e803b4d1f"/>
    <p:sldLayoutId xmlns:r="http://schemas.openxmlformats.org/officeDocument/2006/relationships" id="2147483652" r:id="Rbdcbfada660c4976"/>
    <p:sldLayoutId xmlns:r="http://schemas.openxmlformats.org/officeDocument/2006/relationships" id="2147483653" r:id="R5fb2ca2db5c9420f"/>
    <p:sldLayoutId xmlns:r="http://schemas.openxmlformats.org/officeDocument/2006/relationships" id="2147483654" r:id="Ref37de7ea1844d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4d68595fd460e" /><Relationship Type="http://schemas.openxmlformats.org/officeDocument/2006/relationships/notesSlide" Target="/ppt/notesSlides/notesSlide1.xml" Id="R809058c4c88344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2ee51ba864eac" /><Relationship Type="http://schemas.openxmlformats.org/officeDocument/2006/relationships/notesSlide" Target="/ppt/notesSlides/notesSlide2.xml" Id="R3532ca8a9f794f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7c8deaf244a76" /><Relationship Type="http://schemas.openxmlformats.org/officeDocument/2006/relationships/notesSlide" Target="/ppt/notesSlides/notesSlide3.xml" Id="R55f05c99503a4f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c8c3445954e89" /><Relationship Type="http://schemas.openxmlformats.org/officeDocument/2006/relationships/notesSlide" Target="/ppt/notesSlides/notesSlide4.xml" Id="Rbd307b4e7c44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d271a03c243ff" /><Relationship Type="http://schemas.openxmlformats.org/officeDocument/2006/relationships/notesSlide" Target="/ppt/notesSlides/notesSlide5.xml" Id="R43b0ef8622d349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1ed5d3c8c426b" /><Relationship Type="http://schemas.openxmlformats.org/officeDocument/2006/relationships/notesSlide" Target="/ppt/notesSlides/notesSlide6.xml" Id="Rb38e3d2729714c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8f18a4fdfe4f56" /><Relationship Type="http://schemas.openxmlformats.org/officeDocument/2006/relationships/notesSlide" Target="/ppt/notesSlides/notesSlide7.xml" Id="R3fe773904ffd4d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f12c50f7e4a8d" /><Relationship Type="http://schemas.openxmlformats.org/officeDocument/2006/relationships/notesSlide" Target="/ppt/notesSlides/notesSlide8.xml" Id="Raca2974fc66649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85520-0920-41C3-A064-91D6ADA0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E8C17-EFB1-4761-9AAF-34AD1966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Infrastructure security, made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D7B43-8552-4AA7-8167-6B5B9CD4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E7E1-F0D9-4A1C-B3DD-2510C4F9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315E50"/>
                </a:solidFill>
                <a:latin typeface="Arial"/>
                <a:ea typeface="Arial"/>
                <a:cs typeface="Arial"/>
              </a:rPr>
              <a:t>A commercial site decision does not establish</a:t>
            </a:r>
          </a:p>
          <a:p xmlns:a="http://schemas.openxmlformats.org/drawingml/2006/main">
            <a:pPr>
              <a:defRPr sz="2700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315E50"/>
                </a:solidFill>
                <a:latin typeface="Arial"/>
                <a:ea typeface="Arial"/>
                <a:cs typeface="Arial"/>
              </a:rPr>
              <a:t>that its security has been released.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8F5BA-01BB-4091-9FA0-2D2558E8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Contract evidence → human review → deterministic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51DEB-F5CE-40DF-8A8F-18C0DAA7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Synthetic demonstration. Commercial thesis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529477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4C30A-7089-4A98-8735-E6DD6B46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B6A29-8537-4926-8F45-8E37D3C1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first customer: developer treasury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5FBCF-CAFF-479A-A2AA-447E76B4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E66E5-0927-4CE3-BA60-25F3BBF1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Treasury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EA598-CDCE-4E45-A811-F5074B6E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Reconstruct posted security,</a:t>
            </a:r>
          </a:p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facility usage and release 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74F49-3446-476D-82D7-0D4629C5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Counsel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EC7FB-B75D-426A-A9A6-4B97D3BC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670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Review draw rights,</a:t>
            </a:r>
          </a:p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co-callability and amendments.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EBB73-10A7-4821-9F7D-8DA66353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Bank / utility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865DD-2A4A-487C-AF04-DA49C95C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Confirm economic treatment</a:t>
            </a:r>
          </a:p>
          <a:p xmlns:a="http://schemas.openxmlformats.org/drawingml/2006/main">
            <a:pPr>
              <a:defRPr sz="19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and beneficiary protection.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F1FAD-B587-41F4-AF6A-9AE192CE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Initial offer to test: a project security diagnostic.</a:t>
            </a:r>
          </a:p>
        </p:txBody>
      </p:sp>
    </p:spTree>
    <p:extLst>
      <p:ext uri="{BB962C8B-B14F-4D97-AF65-F5344CB8AC3E}">
        <p14:creationId xmlns:p14="http://schemas.microsoft.com/office/powerpoint/2010/main" val="1580528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CECCB-340B-40E4-AD1B-791284A0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951A1-59C2-4099-B1DF-104B126B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review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48B06-8657-4A3A-B0D3-BC103E6D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9A435-4FE5-42A3-A166-8768B822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01   Gather the operative 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752B7-9D54-4E49-B290-5326BB7E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02   Identify obligations and securing instruments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0D76F-2FCE-42C9-AC67-F387022D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03   Verify release conditions and dependencies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D44FB-1C94-4CE6-A5CE-8EA64A5E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04   Challenge simultaneous exposure</a:t>
            </a:r>
          </a:p>
        </p:txBody>
      </p:sp>
    </p:spTree>
    <p:extLst>
      <p:ext uri="{BB962C8B-B14F-4D97-AF65-F5344CB8AC3E}">
        <p14:creationId xmlns:p14="http://schemas.microsoft.com/office/powerpoint/2010/main" val="485612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05FE8-9A46-4250-9260-98570495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8E093-26B5-4A4A-98CB-4AB6A91F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connected evidence workbench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97E3C-73EE-4AB0-9C3C-461E7203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8C912-4D01-471E-996C-1789C02A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Documents and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2A6B3-59F3-4D82-9F02-0AC62CBF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Ordinary text/PDF upload, source selection,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editable projects, sites and instruments.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09AA6-934F-4EDA-B125-1D1246D7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Review and computation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8CFD9-322D-4EFA-912F-12252A40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Separate dependency decisions, exact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state enumeration and reproducible exports.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5157-F635-4749-AA82-32A1639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Working local application. Manual entry; no AI extraction in this release.</a:t>
            </a:r>
          </a:p>
        </p:txBody>
      </p:sp>
    </p:spTree>
    <p:extLst>
      <p:ext uri="{BB962C8B-B14F-4D97-AF65-F5344CB8AC3E}">
        <p14:creationId xmlns:p14="http://schemas.microsoft.com/office/powerpoint/2010/main" val="1317677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48E66-2F19-47F0-82EC-0C39306D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B49EB-9A61-4E00-8873-8F8B3592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fresh project, built from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394F8-A594-460B-8A85-290B1061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8C935-CFC9-422C-A4B2-F297AD06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4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$500K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110F6-7E34-456F-8C55-89CE8E4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Face-based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DE84B-8D70-4270-8FEE-D92E4AC4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479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0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4875" b="0">
                <a:solidFill>
                  <a:srgbClr val="315E50"/>
                </a:solidFill>
                <a:latin typeface="Arial"/>
                <a:ea typeface="Arial"/>
                <a:cs typeface="Arial"/>
              </a:rPr>
              <a:t>$500K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CC5CD-A4C4-4E32-87BA-FA079BA7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909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Claim cap, face retained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28A14-A263-4132-A380-98FBE5AF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4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$300K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A28A7-394B-4E3D-AA9B-8A231439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Hypothetical draw basis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B556A-1F24-4548-BED9-87F98C5E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claim cap lowers obligations to $300K. LC face exposure stays $500K</a:t>
            </a:r>
          </a:p>
          <a:p xmlns:a="http://schemas.openxmlformats.org/drawingml/2006/main">
            <a:pPr>
              <a:defRPr sz="180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until a separate hypothetical claim-limited draw basis is reviewed.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7D89D-3D4C-4759-9052-71EE1A8F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Modeled exposure reduction ≠ confirmed cash or bank capacity released.</a:t>
            </a:r>
          </a:p>
        </p:txBody>
      </p:sp>
    </p:spTree>
    <p:extLst>
      <p:ext uri="{BB962C8B-B14F-4D97-AF65-F5344CB8AC3E}">
        <p14:creationId xmlns:p14="http://schemas.microsoft.com/office/powerpoint/2010/main" val="830041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5E7FE-0C8A-4A97-A394-68B3370E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CA748-3902-4C9D-A26C-AA441F59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Architecture and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BF03C-5085-48F2-8C8D-B8745F17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1B5A0-9DB9-42E9-BD79-3A0270E5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Next.js → FastAPI → local records and original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C9485-D29D-4AA2-AB59-4573F02D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Source-backed entry. Separate reviews for model inputs.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F0848-B10C-41AD-8123-63969F4A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solver computes from a frozen evidence snapshot.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C0992-E6C2-497C-9F07-0361F94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Unverified dependencies receive zero reduction credit.</a:t>
            </a:r>
          </a:p>
        </p:txBody>
      </p:sp>
    </p:spTree>
    <p:extLst>
      <p:ext uri="{BB962C8B-B14F-4D97-AF65-F5344CB8AC3E}">
        <p14:creationId xmlns:p14="http://schemas.microsoft.com/office/powerpoint/2010/main" val="10287632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C9235-1917-4496-89CD-F86654DC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08C9F-53D0-44C8-A993-75BA4E8C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The commercial proof still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A5AE4-EB3B-475B-9C89-59DEBF20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8B57D-1B21-4DC2-BB02-E9EE6F08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Occurrence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33A0D-9F86-480B-AB8D-8E536D8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Two independent projects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with $25M+ alternative-site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security for 60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3635B-62A2-41A8-BAD1-572376E6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146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Economics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2CC65-9146-434A-B4F4-BF57019C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28975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bank documents $5M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or 20% improvement in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named capacity/cash metric.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1B7CD-422B-45EF-B977-972B6238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Protection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E9CE6-BA0C-4D87-9488-751F653A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2897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Counsel reviews the structure.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 utility accepts a pilot with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no identified shortfall.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721DA-E12B-4E61-86A7-738C4A45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Internal decision thresholds. No commercial gate has passed.</a:t>
            </a:r>
          </a:p>
        </p:txBody>
      </p:sp>
    </p:spTree>
    <p:extLst>
      <p:ext uri="{BB962C8B-B14F-4D97-AF65-F5344CB8AC3E}">
        <p14:creationId xmlns:p14="http://schemas.microsoft.com/office/powerpoint/2010/main" val="1881130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95A2E-44A8-4061-8C9D-33519D3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LOADBOND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2D93-3EA6-4A85-AA5E-E58193E7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Next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63038-54BE-4B9A-928B-A04336F7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879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96B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5BD56-DB91-4125-B331-0EFDFB0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October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216A3-255A-4DC6-942B-52ED76B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Demonstrate the workflow.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Record and submit eligible work.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Begin developer discovery.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D2E9F-DA3A-4AB1-858E-CEAE0883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860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November–January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174CC-CF3C-413B-B832-208EC6E4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333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Acquire historical records.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Reconstruct security timelines.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Test the cross-site thesis.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55394-076C-49EC-A93A-FAA42AA6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0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E50"/>
                </a:solidFill>
                <a:latin typeface="Arial"/>
                <a:ea typeface="Arial"/>
                <a:cs typeface="Arial"/>
              </a:rPr>
              <a:t>February–April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BE13B-D94F-4B7D-AEBF-C5C396C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381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Run bank and utility reviews.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Deliver a paid pilot if justified.</a:t>
            </a:r>
          </a:p>
          <a:p xmlns:a="http://schemas.openxmlformats.org/drawingml/2006/main">
            <a:pPr>
              <a:defRPr sz="18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Expand, pivot or stop.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AFB6A-B381-4442-9A1E-5BCB5940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B3D"/>
                </a:solidFill>
                <a:latin typeface="Arial"/>
                <a:ea typeface="Arial"/>
                <a:cs typeface="Arial"/>
              </a:rPr>
              <a:t>Next ask: one historical project and a treasury reviewer.</a:t>
            </a:r>
          </a:p>
        </p:txBody>
      </p:sp>
    </p:spTree>
    <p:extLst>
      <p:ext uri="{BB962C8B-B14F-4D97-AF65-F5344CB8AC3E}">
        <p14:creationId xmlns:p14="http://schemas.microsoft.com/office/powerpoint/2010/main" val="664294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2026-10-09T16:28:08.5610000Z</dcterms:created>
  <dcterms:modified xsi:type="dcterms:W3CDTF">2026-10-09T16:28:08.5610000Z</dcterms:modified>
</coreProperties>
</file>