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5101744d884e4c" /><Relationship Type="http://schemas.openxmlformats.org/officeDocument/2006/relationships/extended-properties" Target="/docProps/app.xml" Id="R3fb7a66f551647be" /><Relationship Type="http://schemas.openxmlformats.org/officeDocument/2006/relationships/officeDocument" Target="/ppt/presentation.xml" Id="Ra41ea73439d746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9b071882724ca7"/>
  </p:sldMasterIdLst>
  <p:notesMasterIdLst>
    <p:notesMasterId xmlns:r="http://schemas.openxmlformats.org/officeDocument/2006/relationships" r:id="R7d4da7d9761b4747"/>
  </p:notesMasterIdLst>
  <p:sldIdLst>
    <p:sldId xmlns:r="http://schemas.openxmlformats.org/officeDocument/2006/relationships" id="256" r:id="Rb3308cc1f2e541a6"/>
    <p:sldId xmlns:r="http://schemas.openxmlformats.org/officeDocument/2006/relationships" id="257" r:id="Rc337aa7d1d214686"/>
    <p:sldId xmlns:r="http://schemas.openxmlformats.org/officeDocument/2006/relationships" id="258" r:id="R827ecdb9b2c84982"/>
    <p:sldId xmlns:r="http://schemas.openxmlformats.org/officeDocument/2006/relationships" id="259" r:id="R1230433c01464b06"/>
    <p:sldId xmlns:r="http://schemas.openxmlformats.org/officeDocument/2006/relationships" id="260" r:id="R89e1adadd3934709"/>
    <p:sldId xmlns:r="http://schemas.openxmlformats.org/officeDocument/2006/relationships" id="261" r:id="R8416a1b24bd84dd4"/>
    <p:sldId xmlns:r="http://schemas.openxmlformats.org/officeDocument/2006/relationships" id="262" r:id="R3e3c783ac7574c0d"/>
    <p:sldId xmlns:r="http://schemas.openxmlformats.org/officeDocument/2006/relationships" id="263" r:id="R9f15b4985a7645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700dd3e977416a" /><Relationship Type="http://schemas.openxmlformats.org/officeDocument/2006/relationships/slideMaster" Target="/ppt/slideMasters/slideMaster1.xml" Id="R639b071882724ca7" /><Relationship Type="http://schemas.openxmlformats.org/officeDocument/2006/relationships/notesMaster" Target="/ppt/notesMasters/notesMaster1.xml" Id="R7d4da7d9761b4747" /><Relationship Type="http://schemas.openxmlformats.org/officeDocument/2006/relationships/presProps" Target="/ppt/presProps.xml" Id="Rc3885bb2b169403a" /><Relationship Type="http://schemas.openxmlformats.org/officeDocument/2006/relationships/tableStyles" Target="/ppt/tableStyles.xml" Id="Rf5dfdea804ce4b00" /><Relationship Type="http://schemas.openxmlformats.org/officeDocument/2006/relationships/slide" Target="/ppt/slides/slide1.xml" Id="Rb3308cc1f2e541a6" /><Relationship Type="http://schemas.openxmlformats.org/officeDocument/2006/relationships/slide" Target="/ppt/slides/slide2.xml" Id="Rc337aa7d1d214686" /><Relationship Type="http://schemas.openxmlformats.org/officeDocument/2006/relationships/slide" Target="/ppt/slides/slide3.xml" Id="R827ecdb9b2c84982" /><Relationship Type="http://schemas.openxmlformats.org/officeDocument/2006/relationships/slide" Target="/ppt/slides/slide4.xml" Id="R1230433c01464b06" /><Relationship Type="http://schemas.openxmlformats.org/officeDocument/2006/relationships/slide" Target="/ppt/slides/slide5.xml" Id="R89e1adadd3934709" /><Relationship Type="http://schemas.openxmlformats.org/officeDocument/2006/relationships/slide" Target="/ppt/slides/slide6.xml" Id="R8416a1b24bd84dd4" /><Relationship Type="http://schemas.openxmlformats.org/officeDocument/2006/relationships/slide" Target="/ppt/slides/slide7.xml" Id="R3e3c783ac7574c0d" /><Relationship Type="http://schemas.openxmlformats.org/officeDocument/2006/relationships/slide" Target="/ppt/slides/slide8.xml" Id="R9f15b4985a7645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694613176a49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305546e2ca4e69" /><Relationship Type="http://schemas.openxmlformats.org/officeDocument/2006/relationships/notesMaster" Target="/ppt/notesMasters/notesMaster1.xml" Id="Ra2c6f42e937c4c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61b805968d435f" /><Relationship Type="http://schemas.openxmlformats.org/officeDocument/2006/relationships/notesMaster" Target="/ppt/notesMasters/notesMaster1.xml" Id="R510b6f3bbfc14c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1ce12421414776" /><Relationship Type="http://schemas.openxmlformats.org/officeDocument/2006/relationships/notesMaster" Target="/ppt/notesMasters/notesMaster1.xml" Id="R75e8229e5abb4e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178ccbe9b74319" /><Relationship Type="http://schemas.openxmlformats.org/officeDocument/2006/relationships/notesMaster" Target="/ppt/notesMasters/notesMaster1.xml" Id="Rb89228c870044d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a8363acb2a474b" /><Relationship Type="http://schemas.openxmlformats.org/officeDocument/2006/relationships/notesMaster" Target="/ppt/notesMasters/notesMaster1.xml" Id="R549a5610634e4c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0e71dd117142ad" /><Relationship Type="http://schemas.openxmlformats.org/officeDocument/2006/relationships/notesMaster" Target="/ppt/notesMasters/notesMaster1.xml" Id="Rca086a2a5b2a41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2e0ed2687d4c2d" /><Relationship Type="http://schemas.openxmlformats.org/officeDocument/2006/relationships/notesMaster" Target="/ppt/notesMasters/notesMaster1.xml" Id="Red5f34e8ffdb4e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4d0aae5fea4819" /><Relationship Type="http://schemas.openxmlformats.org/officeDocument/2006/relationships/notesMaster" Target="/ppt/notesMasters/notesMaster1.xml" Id="R40fb947bb50540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from the supplied LoadBond report. Instrument treatment requires governing-law and document review. Ohio UCC 5-108: https://codes.ohio.gov/ohio-revised-code/section-1305.07. Do not claim verified market prevalence.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Customer and offer hypotheses from the supplied research. No customer, bank or utility endorsement is claimed. Diagnostic pricing has not been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review workflow, not an empirical claim about every treasury team. Commercial status, legal status, instrument lifecycle and verification remain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Next.js/TypeScript frontend, FastAPI backend, local SQLite and content-addressed files. Local sample parsing is deterministic and must not be described as AI. Live AI requires configured credentials and a supported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fixture from supplied HTML/report. Conditional amounts are $18.2M, $16M, $14.8M, $13M. Fixed amounts sum to $18M. $18M + $18.2M + $16M = $52.2M. Adding $14.8M = $67M. These are not observed transaction savings.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architecture is implemented locally. Managed PostgreSQL, object storage, OIDC/MFA and production role separation are future pilot-gated work. Structured outputs documentation: https://developers.openai.com/api/docs/guides/structured-outputs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Thresholds are explicit internal planning choices approved in the action plan. They are not industry standards. Inadequate records produce an inconclusive outcome. After 10 adequately documented projects from 3 unrelated developers, fewer than 2 qualifying projects fails the cross-site investment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 begins October 9, 2026 and ends April 9, 2027. Current state: local demo implemented; public hosting, video, event submissions and all customer outcomes pending. Graphiques permits concepts and research: https://graphiques-challenge.devpost.com/rules. Disclose prior HTML/report and AI coding assistance.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8604c8d4740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96382d97b42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6be2a19fa44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711e5177940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643ee08d149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279bfbb6447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8733DC-0EF1-4D65-877A-507636864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A67F24-0B8F-47DC-A566-B1E5A9D586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15681D-14A8-4997-ACA1-0CFB8BB0F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0A5085-AF19-467D-902A-980BD3C8FB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856D6BF-982F-42A3-A807-0E04442BD5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142250-788B-4857-8AB2-05A5C18F4F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9F2A70-FD0A-47EA-98D1-511B2243C5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C542B1-1A70-4C6B-B747-7D8E37CCCC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9BA178-1683-4AC8-9D40-631A84EF6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47B3D6-83E9-40C1-9881-F50CF94E75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c04f9e9f854eb1" /><Relationship Type="http://schemas.openxmlformats.org/officeDocument/2006/relationships/slideLayout" Target="/ppt/slideLayouts/slideLayout1.xml" Id="R04fd939fc3294f0f" /><Relationship Type="http://schemas.openxmlformats.org/officeDocument/2006/relationships/slideLayout" Target="/ppt/slideLayouts/slideLayout2.xml" Id="R9cbd239be0734dee" /><Relationship Type="http://schemas.openxmlformats.org/officeDocument/2006/relationships/slideLayout" Target="/ppt/slideLayouts/slideLayout3.xml" Id="R0e80aa62a1d44868" /><Relationship Type="http://schemas.openxmlformats.org/officeDocument/2006/relationships/slideLayout" Target="/ppt/slideLayouts/slideLayout4.xml" Id="R0bde07a467564433" /><Relationship Type="http://schemas.openxmlformats.org/officeDocument/2006/relationships/slideLayout" Target="/ppt/slideLayouts/slideLayout5.xml" Id="Rd3dcef38d60846ac" /><Relationship Type="http://schemas.openxmlformats.org/officeDocument/2006/relationships/slideLayout" Target="/ppt/slideLayouts/slideLayout6.xml" Id="R8c4b74a4042347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fd939fc3294f0f"/>
    <p:sldLayoutId xmlns:r="http://schemas.openxmlformats.org/officeDocument/2006/relationships" id="2147483650" r:id="R9cbd239be0734dee"/>
    <p:sldLayoutId xmlns:r="http://schemas.openxmlformats.org/officeDocument/2006/relationships" id="2147483651" r:id="R0e80aa62a1d44868"/>
    <p:sldLayoutId xmlns:r="http://schemas.openxmlformats.org/officeDocument/2006/relationships" id="2147483652" r:id="R0bde07a467564433"/>
    <p:sldLayoutId xmlns:r="http://schemas.openxmlformats.org/officeDocument/2006/relationships" id="2147483653" r:id="Rd3dcef38d60846ac"/>
    <p:sldLayoutId xmlns:r="http://schemas.openxmlformats.org/officeDocument/2006/relationships" id="2147483654" r:id="R8c4b74a4042347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faeb4ec8744b1" /><Relationship Type="http://schemas.openxmlformats.org/officeDocument/2006/relationships/notesSlide" Target="/ppt/notesSlides/notesSlide1.xml" Id="R6093913cdefc43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8be6b06a964108" /><Relationship Type="http://schemas.openxmlformats.org/officeDocument/2006/relationships/notesSlide" Target="/ppt/notesSlides/notesSlide2.xml" Id="Rd7054b9fd38242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30ce79c7c4268" /><Relationship Type="http://schemas.openxmlformats.org/officeDocument/2006/relationships/notesSlide" Target="/ppt/notesSlides/notesSlide3.xml" Id="R513bb0a1904547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011497bdc4dcc" /><Relationship Type="http://schemas.openxmlformats.org/officeDocument/2006/relationships/notesSlide" Target="/ppt/notesSlides/notesSlide4.xml" Id="R3149351d0cf34b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6108110d84f35" /><Relationship Type="http://schemas.openxmlformats.org/officeDocument/2006/relationships/notesSlide" Target="/ppt/notesSlides/notesSlide5.xml" Id="Rb7792d82951647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a8252f68b4441" /><Relationship Type="http://schemas.openxmlformats.org/officeDocument/2006/relationships/notesSlide" Target="/ppt/notesSlides/notesSlide6.xml" Id="Rc11456b41b294b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d39db54dc74573" /><Relationship Type="http://schemas.openxmlformats.org/officeDocument/2006/relationships/notesSlide" Target="/ppt/notesSlides/notesSlide7.xml" Id="Re69fe296051c47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f95ebf03f4711" /><Relationship Type="http://schemas.openxmlformats.org/officeDocument/2006/relationships/notesSlide" Target="/ppt/notesSlides/notesSlide8.xml" Id="Rf81b1b27688744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8E40C-009C-4B21-8FFF-C67F1870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F6F24-BC6C-4DC4-9D4E-1D1DC135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Infrastructure security, made reviewable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D15F2-42BC-4024-B70C-64A4CF84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01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1D9B1-2A0A-488A-AEEE-B06E6A4E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315E50"/>
                </a:solidFill>
                <a:latin typeface="Arial"/>
                <a:ea typeface="Arial"/>
                <a:cs typeface="Arial"/>
              </a:rPr>
              <a:t>A commercial site decision does not establish</a:t>
            </a:r>
          </a:p>
          <a:p xmlns:a="http://schemas.openxmlformats.org/drawingml/2006/main">
            <a:pPr>
              <a:defRPr sz="2700" b="0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315E50"/>
                </a:solidFill>
                <a:latin typeface="Arial"/>
                <a:ea typeface="Arial"/>
                <a:cs typeface="Arial"/>
              </a:rPr>
              <a:t>that its security has been released.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FA4D5-C68F-44F7-ADD2-E73C60A3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Contract evidence → human review → deterministic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0E281-349B-43FE-A877-15F904C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Synthetic demonstration. Commercial thesis remains unvalidated.</a:t>
            </a:r>
          </a:p>
        </p:txBody>
      </p:sp>
    </p:spTree>
    <p:extLst>
      <p:ext uri="{BB962C8B-B14F-4D97-AF65-F5344CB8AC3E}">
        <p14:creationId xmlns:p14="http://schemas.microsoft.com/office/powerpoint/2010/main" val="2831678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87619-415A-417B-B7A2-FAF8089F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CA2DB-7CC0-48F7-803A-269808D9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The first customer: developer treasury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8727E-E7CF-413F-9782-D2DB2DBA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C4127-485F-44AF-9E93-E18D8740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Treasury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622B8-66C4-4CF1-B5A7-13FA97C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Reconstruct posted security,</a:t>
            </a:r>
          </a:p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facility usage and release 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48F82-B3F2-48EA-9474-80CBE8BB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Counsel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5F2E2-68E9-4CCF-9701-0240D3AD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6707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Review draw rights,</a:t>
            </a:r>
          </a:p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co-callability and amendments.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8F40A-AB15-472D-8605-D8CFA385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Bank / utility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1D5FE-AAE1-4A25-B79A-C6BAF40F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707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Confirm economic treatment</a:t>
            </a:r>
          </a:p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and beneficiary protection.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04CE6-24C5-4F3B-BAB5-26EE291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Initial offer to test: a project security diagnostic.</a:t>
            </a:r>
          </a:p>
        </p:txBody>
      </p:sp>
    </p:spTree>
    <p:extLst>
      <p:ext uri="{BB962C8B-B14F-4D97-AF65-F5344CB8AC3E}">
        <p14:creationId xmlns:p14="http://schemas.microsoft.com/office/powerpoint/2010/main" val="15664114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7DBF6-B817-4EA7-9EEE-4B18F8CD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618E0-0182-4405-972A-A83732C9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The review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FA533-8965-4408-BFA1-E0F25661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8BAFA-9C9F-44CC-911F-BD06608D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01   Gather the operative documents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7C87F-8153-4F54-95BF-56FD6ED8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02   Identify obligations and securing instruments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98AE1-363D-4C1C-B0B8-BE8E7FD4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03   Verify release conditions and dependencies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00E41-B2F6-4D16-BE72-8338CF26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04   Challenge simultaneous exposure</a:t>
            </a:r>
          </a:p>
        </p:txBody>
      </p:sp>
    </p:spTree>
    <p:extLst>
      <p:ext uri="{BB962C8B-B14F-4D97-AF65-F5344CB8AC3E}">
        <p14:creationId xmlns:p14="http://schemas.microsoft.com/office/powerpoint/2010/main" val="19046964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C54C3-AB28-45B8-A43F-1A889504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8F778-4111-405D-910A-A9480F93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 connected evidence workbench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F07EC-371E-4923-8042-93E23786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B0B2D-76AB-4FD5-8235-C98ED0A7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Documents and proposals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267A0-A0AE-4151-AD15-219E2B09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Text/PDF upload, exact source quotations,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editable proposals and instrument mapping.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D191F-2A06-4F64-AA39-FBF6AB31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Review and computation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2462E-814A-40AE-9875-D3ECE233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Separate dependency decisions, exact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state enumeration and reproducible exports.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FF143-73CE-457D-A268-F72AB264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Working local MVP. Optional AI adapter implemented; live provider run pending.</a:t>
            </a:r>
          </a:p>
        </p:txBody>
      </p:sp>
    </p:spTree>
    <p:extLst>
      <p:ext uri="{BB962C8B-B14F-4D97-AF65-F5344CB8AC3E}">
        <p14:creationId xmlns:p14="http://schemas.microsoft.com/office/powerpoint/2010/main" val="1659083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5D964-C490-471C-9375-584D35A7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D4262-EB93-46FA-8AD8-73398BB8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The synthetic four-site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F45B8-77EC-4BC2-B338-90545479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FEEB7-FACC-4820-BE4C-53DD6DFA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4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$80.0M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B6B3C-72D3-4419-B5ED-3D09A7C7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Independent obligations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3F907-047C-47F7-91E3-D3AC0BA1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479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0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75" b="0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4875" b="0">
                <a:solidFill>
                  <a:srgbClr val="315E50"/>
                </a:solidFill>
                <a:latin typeface="Arial"/>
                <a:ea typeface="Arial"/>
                <a:cs typeface="Arial"/>
              </a:rPr>
              <a:t>$52.2M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D2C44-18C6-4F93-941F-690A8062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909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Approved hypothetical cap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A4110-AC9B-4DD7-98C8-1271E14D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4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$67.0M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AAD51-8631-442E-9425-8BD3A19F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Three-branch release delay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CFBAA-FDB6-4E35-8F3D-1187074A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All cases reserve $18M fixed exposure. The cap includes the two largest</a:t>
            </a:r>
          </a:p>
          <a:p xmlns:a="http://schemas.openxmlformats.org/drawingml/2006/main">
            <a: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conditional branches; the delay scenario includes three.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6EF24-D457-4F1F-B035-BF02C8F1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Modeled exposure reduction ≠ confirmed cash or bank capacity released.</a:t>
            </a:r>
          </a:p>
        </p:txBody>
      </p:sp>
    </p:spTree>
    <p:extLst>
      <p:ext uri="{BB962C8B-B14F-4D97-AF65-F5344CB8AC3E}">
        <p14:creationId xmlns:p14="http://schemas.microsoft.com/office/powerpoint/2010/main" val="7045062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87423-856F-4389-BD44-C724B2F2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76601-12F1-4BB2-A165-79416BF6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Architecture and trust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6F978-A73C-4927-B240-ABBE80CA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CB3E5-EE0D-4DEE-89F8-A6F32380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Next.js → FastAPI → local records and original 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B497F-3833-4EC5-A235-A76E778A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Extraction proposes. Human review controls the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A9834-C756-474F-BC09-B823FB2C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The solver computes from a frozen evidence snapshot.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653E9-7734-47E5-9626-B469782A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Unverified dependencies receive zero reduction credit.</a:t>
            </a:r>
          </a:p>
        </p:txBody>
      </p:sp>
    </p:spTree>
    <p:extLst>
      <p:ext uri="{BB962C8B-B14F-4D97-AF65-F5344CB8AC3E}">
        <p14:creationId xmlns:p14="http://schemas.microsoft.com/office/powerpoint/2010/main" val="17379940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FFA77-26A4-4574-9784-2057B5A0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78D81-B92E-4E44-97E5-B5EF05EA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The commercial proof still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B3190-85FD-4978-A95E-5CF1E880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2E68D-BE25-4236-BC76-86812142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Occurrence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B1FAA-1AEB-43BD-9032-55304F6E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Two independent projects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with $25M+ alternative-site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security for 60 days.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C609F-3F0F-4287-86D7-27EAD80A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146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Economics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630F3-E016-4928-9704-F8DA7CD5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28975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 bank documents $5M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or 20% improvement in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 named capacity/cash metric.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8FACA-595E-46D4-85D1-1474D683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Protection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16D8F-62EF-414F-ACD6-DCABE7B1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2897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Counsel reviews the structure.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 utility accepts a pilot with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no identified shortfall.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0F21F-3AB6-4986-B039-D16DB3B1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Internal decision thresholds. No commercial gate has passed.</a:t>
            </a:r>
          </a:p>
        </p:txBody>
      </p:sp>
    </p:spTree>
    <p:extLst>
      <p:ext uri="{BB962C8B-B14F-4D97-AF65-F5344CB8AC3E}">
        <p14:creationId xmlns:p14="http://schemas.microsoft.com/office/powerpoint/2010/main" val="5776209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76AB2-0CA2-4927-95AF-C3D7F97A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663DE-E24D-4945-B04C-1AC9A105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Next milestones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94B68-B46A-48F9-8CC7-D4182F1F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0CFB6-E2FE-4C17-B4D6-9F3C2628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October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CE5C5-802F-47E6-8073-93ABA9E3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323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Demonstrate the workflow.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Record and submit eligible work.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Begin developer discovery.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DC101-ABE1-4A56-9C95-2D6C6253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860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November–January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6591F-C1BF-45DF-86F7-207C29BD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333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Acquire historical records.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Reconstruct security timelines.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Test the cross-site thesis.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34930-DCA4-4EE9-9108-F3B3AD37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8602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February–April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6C0C6-FC45-4B9A-ABD6-416B353A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381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Run bank and utility reviews.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Deliver a paid pilot if justified.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Expand, pivot or stop.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9E75C-BBC2-4CB8-8A88-2EE14CDF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Next ask: one historical project and a treasury reviewer.</a:t>
            </a:r>
          </a:p>
        </p:txBody>
      </p:sp>
    </p:spTree>
    <p:extLst>
      <p:ext uri="{BB962C8B-B14F-4D97-AF65-F5344CB8AC3E}">
        <p14:creationId xmlns:p14="http://schemas.microsoft.com/office/powerpoint/2010/main" val="541807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2026-10-09T15:01:05.1230000Z</dcterms:created>
  <dcterms:modified xsi:type="dcterms:W3CDTF">2026-10-09T15:01:05.1230000Z</dcterms:modified>
</coreProperties>
</file>